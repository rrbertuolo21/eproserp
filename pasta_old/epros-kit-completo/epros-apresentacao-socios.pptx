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1188720"/>
            <a:ext cx="5303520" cy="2560320"/>
          </a:xfrm>
          <a:prstGeom prst="rect">
            <a:avLst/>
          </a:prstGeom>
          <a:solidFill>
            <a:srgbClr val="1A4080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173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6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EPROS ERP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Reescrita Estratégica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72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87168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reconstruímos, o que construímos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para onde vamos.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Estratégico Interno ·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188720"/>
            <a:ext cx="2377440" cy="804672"/>
          </a:xfrm>
          <a:prstGeom prst="rect">
            <a:avLst/>
          </a:prstGeom>
          <a:solidFill>
            <a:srgbClr val="1A4080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20700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00800" y="16276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em produção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2148840"/>
            <a:ext cx="2377440" cy="804672"/>
          </a:xfrm>
          <a:prstGeom prst="rect">
            <a:avLst/>
          </a:prstGeom>
          <a:solidFill>
            <a:srgbClr val="1A4080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216712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00800" y="25877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3108960"/>
            <a:ext cx="2377440" cy="804672"/>
          </a:xfrm>
          <a:prstGeom prst="rect">
            <a:avLst/>
          </a:prstGeom>
          <a:solidFill>
            <a:srgbClr val="1A4080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312724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00800" y="35478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Submódulos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4069080"/>
            <a:ext cx="2377440" cy="804672"/>
          </a:xfrm>
          <a:prstGeom prst="rect">
            <a:avLst/>
          </a:prstGeom>
          <a:solidFill>
            <a:srgbClr val="1A4080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408736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400800" y="45079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Regulações atendidas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SISTEMA QUE TÍNHAMOS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41248"/>
            <a:ext cx="196596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4.784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no maior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96312" y="841248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96312" y="841248"/>
            <a:ext cx="196596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2496312" y="9601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96312" y="16002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72584" y="841248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72584" y="841248"/>
            <a:ext cx="196596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4672584" y="9601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72584" y="16002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48856" y="841248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48856" y="841248"/>
            <a:ext cx="196596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848856" y="9601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48856" y="16002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vazando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514600"/>
            <a:ext cx="85039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2606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Achados do Assessment de Segurança 360° — Abril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29077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JWT Secret hardcoded — qualquer dev forja token de qualquer cliente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22783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Senha armazenada em texto puro — banco exposto = todas as senhas expostas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54787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Token de 100 anos (AddYears(100)) — credencial vazada nunca expira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29077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CORS aberto — qualquer site faz chamadas em nome do usuário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322783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sendDefaultPii: true no Sentry — CPF e dados pessoais para terceiro (LGPD)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354787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Hub SignalR sem autenticação — acesso anônimo ao tempo real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DECISÃO — POR QUE RECONSTRUIR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3977640"/>
          </a:xfrm>
          <a:prstGeom prst="rect">
            <a:avLst/>
          </a:prstGeom>
          <a:solidFill>
            <a:srgbClr val="1A0606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Patches não resolveriam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Controllers de 4.800 linhas → impossível testar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824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Zero testes → cada deploy é uma aposta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665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TenantIdStatic → vazamento de dados em carga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IDs long → mobile e offline impossíveis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Blazor separado → time dividido em 2 stacks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186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SQL Server → licença crescente com escala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027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Sem observabilidade → clientes detectam bugs primeiro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822960"/>
            <a:ext cx="4023360" cy="3977640"/>
          </a:xfrm>
          <a:prstGeom prst="rect">
            <a:avLst/>
          </a:prstGeom>
          <a:solidFill>
            <a:srgbClr val="0A1F0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E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a reescrita resolve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2984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Keycloak 24 — OIDC, MFA, rotação automática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6824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Argon2id — hash de senha correto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0665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ITenantProvider scoped — isolamento garantido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4505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CQRS — handler 50–150 linhas, testável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834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Testcontainers — 8 testes obrigatórios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2186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PostgreSQL 16 — zero licença, open source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6027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E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OpenTelemetry → Grafana + Prometheus + Loki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ESTAMOS CONSTRUINDO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566928"/>
          </a:xfrm>
          <a:prstGeom prst="rect">
            <a:avLst/>
          </a:prstGeom>
          <a:solidFill>
            <a:srgbClr val="0D2B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59536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 SaaS multi-tenant de nível enterprise — stack 100% open source — compliance nativo com 12 regulações mundiais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54480"/>
            <a:ext cx="2697480" cy="64008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68249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F3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0392" y="1682496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DMS Nativo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206654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Concessionárias integradas — único ERP nacional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72968" y="15544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554480"/>
            <a:ext cx="2697480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3282696" y="168249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3320" y="1682496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Fiscal BR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82696" y="206654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NF-e, NFC-e, NFS-e nativos — Hercules em produção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25896" y="15544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25896" y="1554480"/>
            <a:ext cx="2697480" cy="64008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18" name="Text 16"/>
          <p:cNvSpPr/>
          <p:nvPr/>
        </p:nvSpPr>
        <p:spPr>
          <a:xfrm>
            <a:off x="6135624" y="168249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56248" y="1682496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ESG &amp; GRC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35624" y="206654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1ª classe — CSRD, GRI, SOX, SoD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127248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27248"/>
            <a:ext cx="2697480" cy="6400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325526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A1B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50392" y="325526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Cloud-Agnostic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9768" y="363931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níveis de deploy — 1 binário, sem fork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72968" y="3127248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2968" y="3127248"/>
            <a:ext cx="2697480" cy="64008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28" name="Text 26"/>
          <p:cNvSpPr/>
          <p:nvPr/>
        </p:nvSpPr>
        <p:spPr>
          <a:xfrm>
            <a:off x="3282696" y="325526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8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703320" y="325526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Multi-surface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82696" y="363931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Desktop + Mobile + PDV offline nativo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25896" y="3127248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25896" y="3127248"/>
            <a:ext cx="2697480" cy="6400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3" name="Text 31"/>
          <p:cNvSpPr/>
          <p:nvPr/>
        </p:nvSpPr>
        <p:spPr>
          <a:xfrm>
            <a:off x="6135624" y="325526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556248" y="325526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x12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35624" y="363931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regulações by design — não configuração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MÓDULOS · 132 SUBMÓDULOS · 4 PLANOS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77824" cy="59436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41248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271016" y="822960"/>
            <a:ext cx="877824" cy="594360"/>
          </a:xfrm>
          <a:prstGeom prst="rect">
            <a:avLst/>
          </a:prstGeom>
          <a:solidFill>
            <a:srgbClr val="2E7D5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71016" y="841248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71016" y="111556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21992" y="822960"/>
            <a:ext cx="877824" cy="59436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21992" y="841248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21992" y="111556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172968" y="822960"/>
            <a:ext cx="877824" cy="594360"/>
          </a:xfrm>
          <a:prstGeom prst="rect">
            <a:avLst/>
          </a:prstGeom>
          <a:solidFill>
            <a:srgbClr val="AD145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72968" y="841248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72968" y="111556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23944" y="822960"/>
            <a:ext cx="877824" cy="594360"/>
          </a:xfrm>
          <a:prstGeom prst="rect">
            <a:avLst/>
          </a:prstGeom>
          <a:solidFill>
            <a:srgbClr val="E651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23944" y="841248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23944" y="111556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74920" y="822960"/>
            <a:ext cx="877824" cy="594360"/>
          </a:xfrm>
          <a:prstGeom prst="rect">
            <a:avLst/>
          </a:prstGeom>
          <a:solidFill>
            <a:srgbClr val="6A1B9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74920" y="841248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111556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25896" y="822960"/>
            <a:ext cx="877824" cy="594360"/>
          </a:xfrm>
          <a:prstGeom prst="rect">
            <a:avLst/>
          </a:prstGeom>
          <a:solidFill>
            <a:srgbClr val="558B2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25896" y="841248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25896" y="111556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76872" y="822960"/>
            <a:ext cx="877824" cy="594360"/>
          </a:xfrm>
          <a:prstGeom prst="rect">
            <a:avLst/>
          </a:prstGeom>
          <a:solidFill>
            <a:srgbClr val="37474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76872" y="841248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76872" y="111556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927848" y="822960"/>
            <a:ext cx="877824" cy="594360"/>
          </a:xfrm>
          <a:prstGeom prst="rect">
            <a:avLst/>
          </a:prstGeom>
          <a:solidFill>
            <a:srgbClr val="4E34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927848" y="841248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27848" y="111556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1554480"/>
            <a:ext cx="877824" cy="594360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20040" y="1572768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" y="184708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271016" y="1554480"/>
            <a:ext cx="877824" cy="594360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271016" y="1572768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PRJ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271016" y="184708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221992" y="1554480"/>
            <a:ext cx="877824" cy="594360"/>
          </a:xfrm>
          <a:prstGeom prst="rect">
            <a:avLst/>
          </a:prstGeom>
          <a:solidFill>
            <a:srgbClr val="B71C1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221992" y="1572768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221992" y="184708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172968" y="1554480"/>
            <a:ext cx="877824" cy="59436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172968" y="1572768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172968" y="184708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123944" y="1554480"/>
            <a:ext cx="877824" cy="594360"/>
          </a:xfrm>
          <a:prstGeom prst="rect">
            <a:avLst/>
          </a:prstGeom>
          <a:solidFill>
            <a:srgbClr val="BF360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123944" y="1572768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123944" y="184708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074920" y="1554480"/>
            <a:ext cx="877824" cy="594360"/>
          </a:xfrm>
          <a:prstGeom prst="rect">
            <a:avLst/>
          </a:prstGeom>
          <a:solidFill>
            <a:srgbClr val="79554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074920" y="1572768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74920" y="184708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Imob.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025896" y="1554480"/>
            <a:ext cx="877824" cy="594360"/>
          </a:xfrm>
          <a:prstGeom prst="rect">
            <a:avLst/>
          </a:prstGeom>
          <a:solidFill>
            <a:srgbClr val="546E7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025896" y="1572768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025896" y="184708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976872" y="1554480"/>
            <a:ext cx="877824" cy="594360"/>
          </a:xfrm>
          <a:prstGeom prst="rect">
            <a:avLst/>
          </a:prstGeom>
          <a:solidFill>
            <a:srgbClr val="26323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976872" y="1572768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976872" y="184708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20040" y="2359152"/>
            <a:ext cx="2029968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20040" y="2359152"/>
            <a:ext cx="2029968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7" name="Text 55"/>
          <p:cNvSpPr/>
          <p:nvPr/>
        </p:nvSpPr>
        <p:spPr>
          <a:xfrm>
            <a:off x="320040" y="246888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320040" y="283464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1–15 usuários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R$ 4,8M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29768" y="3364992"/>
            <a:ext cx="1810512" cy="36576"/>
          </a:xfrm>
          <a:prstGeom prst="rect">
            <a:avLst/>
          </a:prstGeom>
          <a:solidFill>
            <a:srgbClr val="DDE3EF"/>
          </a:solidFill>
          <a:ln/>
        </p:spPr>
      </p:sp>
      <p:sp>
        <p:nvSpPr>
          <p:cNvPr id="60" name="Text 58"/>
          <p:cNvSpPr/>
          <p:nvPr/>
        </p:nvSpPr>
        <p:spPr>
          <a:xfrm>
            <a:off x="320040" y="3456432"/>
            <a:ext cx="20299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VEN EST PLT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496312" y="2359152"/>
            <a:ext cx="2029968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2496312" y="2359152"/>
            <a:ext cx="2029968" cy="73152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63" name="Text 61"/>
          <p:cNvSpPr/>
          <p:nvPr/>
        </p:nvSpPr>
        <p:spPr>
          <a:xfrm>
            <a:off x="2496312" y="246888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Essencial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2496312" y="283464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10–100 usuários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R$ 5M–50M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606040" y="3364992"/>
            <a:ext cx="1810512" cy="36576"/>
          </a:xfrm>
          <a:prstGeom prst="rect">
            <a:avLst/>
          </a:prstGeom>
          <a:solidFill>
            <a:srgbClr val="DDE3EF"/>
          </a:solidFill>
          <a:ln/>
        </p:spPr>
      </p:sp>
      <p:sp>
        <p:nvSpPr>
          <p:cNvPr id="66" name="Text 64"/>
          <p:cNvSpPr/>
          <p:nvPr/>
        </p:nvSpPr>
        <p:spPr>
          <a:xfrm>
            <a:off x="2496312" y="3456432"/>
            <a:ext cx="20299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PRD QLD RH COM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672584" y="2359152"/>
            <a:ext cx="2029968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672584" y="2359152"/>
            <a:ext cx="2029968" cy="73152"/>
          </a:xfrm>
          <a:prstGeom prst="rect">
            <a:avLst/>
          </a:prstGeom>
          <a:solidFill>
            <a:srgbClr val="AD1457"/>
          </a:solidFill>
          <a:ln/>
        </p:spPr>
      </p:sp>
      <p:sp>
        <p:nvSpPr>
          <p:cNvPr id="69" name="Text 67"/>
          <p:cNvSpPr/>
          <p:nvPr/>
        </p:nvSpPr>
        <p:spPr>
          <a:xfrm>
            <a:off x="4672584" y="246888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D14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Avançado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4672584" y="283464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50–500 usuários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R$ 50M–500M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782312" y="3364992"/>
            <a:ext cx="1810512" cy="36576"/>
          </a:xfrm>
          <a:prstGeom prst="rect">
            <a:avLst/>
          </a:prstGeom>
          <a:solidFill>
            <a:srgbClr val="DDE3EF"/>
          </a:solidFill>
          <a:ln/>
        </p:spPr>
      </p:sp>
      <p:sp>
        <p:nvSpPr>
          <p:cNvPr id="72" name="Text 70"/>
          <p:cNvSpPr/>
          <p:nvPr/>
        </p:nvSpPr>
        <p:spPr>
          <a:xfrm>
            <a:off x="4672584" y="3456432"/>
            <a:ext cx="20299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MAN PRJ GRC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848856" y="2359152"/>
            <a:ext cx="2029968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6848856" y="2359152"/>
            <a:ext cx="2029968" cy="73152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75" name="Text 73"/>
          <p:cNvSpPr/>
          <p:nvPr/>
        </p:nvSpPr>
        <p:spPr>
          <a:xfrm>
            <a:off x="6848856" y="246888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848856" y="283464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usuários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R$ 500M+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958584" y="3364992"/>
            <a:ext cx="1810512" cy="36576"/>
          </a:xfrm>
          <a:prstGeom prst="rect">
            <a:avLst/>
          </a:prstGeom>
          <a:solidFill>
            <a:srgbClr val="DDE3EF"/>
          </a:solidFill>
          <a:ln/>
        </p:spPr>
      </p:sp>
      <p:sp>
        <p:nvSpPr>
          <p:cNvPr id="78" name="Text 76"/>
          <p:cNvSpPr/>
          <p:nvPr/>
        </p:nvSpPr>
        <p:spPr>
          <a:xfrm>
            <a:off x="6848856" y="3456432"/>
            <a:ext cx="20299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ESG CON IMO BYOK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— ONDE ESTAMOS E PARA ONDE VAMOS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206240" cy="1261872"/>
          </a:xfrm>
          <a:prstGeom prst="rect">
            <a:avLst/>
          </a:prstGeom>
          <a:solidFill>
            <a:srgbClr val="1A4080"/>
          </a:solidFill>
          <a:ln w="12700">
            <a:solidFill>
              <a:srgbClr val="2E7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73152" cy="1261872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914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Blocos 1–4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80360" y="914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Concluído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" y="1234440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 — CQRS, multi-tenancy, GestaoClientes, Financeiro, Estoque, Fiscal. 92+ arquivos .cs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206240" cy="1261872"/>
          </a:xfrm>
          <a:prstGeom prst="rect">
            <a:avLst/>
          </a:prstGeom>
          <a:solidFill>
            <a:srgbClr val="1A4080"/>
          </a:solidFill>
          <a:ln w="12700">
            <a:solidFill>
              <a:srgbClr val="2E7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73152" cy="1261872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914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Bloco 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0" y="914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Concluído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19472" y="1234440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&amp; PDV — máquina de estados, impostos, pagamentos, contingência offline. 19 testes.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240280"/>
            <a:ext cx="4206240" cy="1261872"/>
          </a:xfrm>
          <a:prstGeom prst="rect">
            <a:avLst/>
          </a:prstGeom>
          <a:solidFill>
            <a:srgbClr val="1A408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240280"/>
            <a:ext cx="73152" cy="126187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Bloco 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80360" y="2331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Em andamento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" y="2651760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— NF-e entrada, ContaPagar, EntradaEstoque automática. Reengenharia do CompraController.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206240" cy="1261872"/>
          </a:xfrm>
          <a:prstGeom prst="rect">
            <a:avLst/>
          </a:prstGeom>
          <a:solidFill>
            <a:srgbClr val="1A408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40280"/>
            <a:ext cx="73152" cy="12618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Bloco 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0" y="2331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Próximo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19472" y="2651760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— Migrations, Keycloak seeders, CI/CD, script migração long→Guid para 20 clientes.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657600"/>
            <a:ext cx="4206240" cy="1261872"/>
          </a:xfrm>
          <a:prstGeom prst="rect">
            <a:avLst/>
          </a:prstGeom>
          <a:solidFill>
            <a:srgbClr val="1A4080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57600"/>
            <a:ext cx="73152" cy="126187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Bloco 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880360" y="3749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Próximo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" y="4069080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Qualidade, Sync delta offline, Worker vencimento, Webhook MercadoPago.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657600"/>
            <a:ext cx="4206240" cy="1261872"/>
          </a:xfrm>
          <a:prstGeom prst="rect">
            <a:avLst/>
          </a:prstGeom>
          <a:solidFill>
            <a:srgbClr val="1A4080"/>
          </a:solidFill>
          <a:ln w="12700">
            <a:solidFill>
              <a:srgbClr val="546E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57600"/>
            <a:ext cx="73152" cy="126187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1" name="Text 29"/>
          <p:cNvSpPr/>
          <p:nvPr/>
        </p:nvSpPr>
        <p:spPr>
          <a:xfrm>
            <a:off x="4919472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Blocos 9–10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0" y="3749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Futuro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19472" y="4069080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offline (Electron), Cadastros Base, Permissões ABAC, Epros.Mobile (React Native).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ESTRATÉGIA — STRANGLER FIG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530352"/>
          </a:xfrm>
          <a:prstGeom prst="rect">
            <a:avLst/>
          </a:prstGeom>
          <a:solidFill>
            <a:srgbClr val="0D2B5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59536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Legado continua em produção enquanto o novo é construído módulo a módulo. Sem big bang. Sem risco de downtime total.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2724912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81328"/>
            <a:ext cx="2724912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609344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2011680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304288"/>
            <a:ext cx="2359152" cy="36576"/>
          </a:xfrm>
          <a:prstGeom prst="rect">
            <a:avLst/>
          </a:prstGeom>
          <a:solidFill>
            <a:srgbClr val="DDE3EF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423160"/>
            <a:ext cx="27249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sistema recebe clientes novos. Legado sustenta os 20 atuais.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72968" y="1481328"/>
            <a:ext cx="2724912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481328"/>
            <a:ext cx="2724912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3172968" y="1609344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72968" y="2011680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90–180 dias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55848" y="2304288"/>
            <a:ext cx="2359152" cy="36576"/>
          </a:xfrm>
          <a:prstGeom prst="rect">
            <a:avLst/>
          </a:prstGeom>
          <a:solidFill>
            <a:srgbClr val="DDE3EF"/>
          </a:solidFill>
          <a:ln/>
        </p:spPr>
      </p:sp>
      <p:sp>
        <p:nvSpPr>
          <p:cNvPr id="17" name="Text 15"/>
          <p:cNvSpPr/>
          <p:nvPr/>
        </p:nvSpPr>
        <p:spPr>
          <a:xfrm>
            <a:off x="3172968" y="2423160"/>
            <a:ext cx="27249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assistida dos 20 clientes — módulo por módulo, com rollback disponível.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25896" y="1481328"/>
            <a:ext cx="2724912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25896" y="1481328"/>
            <a:ext cx="2724912" cy="73152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20" name="Text 18"/>
          <p:cNvSpPr/>
          <p:nvPr/>
        </p:nvSpPr>
        <p:spPr>
          <a:xfrm>
            <a:off x="6025896" y="1609344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025896" y="2011680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180+ dias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08776" y="2304288"/>
            <a:ext cx="2359152" cy="36576"/>
          </a:xfrm>
          <a:prstGeom prst="rect">
            <a:avLst/>
          </a:prstGeom>
          <a:solidFill>
            <a:srgbClr val="DDE3EF"/>
          </a:solidFill>
          <a:ln/>
        </p:spPr>
      </p:sp>
      <p:sp>
        <p:nvSpPr>
          <p:cNvPr id="23" name="Text 21"/>
          <p:cNvSpPr/>
          <p:nvPr/>
        </p:nvSpPr>
        <p:spPr>
          <a:xfrm>
            <a:off x="6025896" y="2423160"/>
            <a:ext cx="27249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Legado descomissionado cliente a cliente após 30 dias estáveis no novo.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solidFill>
            <a:srgbClr val="EDF7F0"/>
          </a:solidFill>
          <a:ln w="12700">
            <a:solidFill>
              <a:srgbClr val="C3E6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disponível a qualquer momento durante a migração. Nenhum cliente em risco.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914400"/>
          </a:xfrm>
          <a:prstGeom prst="rect">
            <a:avLst/>
          </a:prstGeom>
          <a:solidFill>
            <a:srgbClr val="1A408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73152" cy="9144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9144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 semana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234440"/>
            <a:ext cx="8092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de segurança críticos — JWT, CORS, Sentry. Sem esperar aprovação: risco ativo em produção.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8503920" cy="914400"/>
          </a:xfrm>
          <a:prstGeom prst="rect">
            <a:avLst/>
          </a:prstGeom>
          <a:solidFill>
            <a:srgbClr val="1A4080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74520"/>
            <a:ext cx="73152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9659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dias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2286000"/>
            <a:ext cx="8092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operacional — papéis definidos, agentes IA configurados, DoR/DoD nas cerimônias.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8503920" cy="914400"/>
          </a:xfrm>
          <a:prstGeom prst="rect">
            <a:avLst/>
          </a:prstGeom>
          <a:solidFill>
            <a:srgbClr val="1A4080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26080"/>
            <a:ext cx="73152" cy="9144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30175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dias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3337560"/>
            <a:ext cx="8092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concluído (Compras). Primeiro cliente legado em processo de migração assistida.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977640"/>
            <a:ext cx="8503920" cy="914400"/>
          </a:xfrm>
          <a:prstGeom prst="rect">
            <a:avLst/>
          </a:prstGeom>
          <a:solidFill>
            <a:srgbClr val="1A4080"/>
          </a:solidFill>
          <a:ln w="12700">
            <a:solidFill>
              <a:srgbClr val="2E7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977640"/>
            <a:ext cx="73152" cy="91440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 dias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4389120"/>
            <a:ext cx="8092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com gates de segurança. Métricas de processo medidas. Segundo cliente migrado.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Epros ERP — Apresentação Executiva</dc:title>
  <dc:subject>PptxGenJS Presentation</dc:subject>
  <dc:creator>Epros</dc:creator>
  <cp:lastModifiedBy>Epros</cp:lastModifiedBy>
  <cp:revision>1</cp:revision>
  <dcterms:created xsi:type="dcterms:W3CDTF">2026-06-05T02:45:27Z</dcterms:created>
  <dcterms:modified xsi:type="dcterms:W3CDTF">2026-06-05T02:45:27Z</dcterms:modified>
</cp:coreProperties>
</file>